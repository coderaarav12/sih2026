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0" r:id="rId2"/>
  </p:sldMasterIdLst>
  <p:notesMasterIdLst>
    <p:notesMasterId r:id="rId9"/>
  </p:notesMasterIdLst>
  <p:sldIdLst>
    <p:sldId id="291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 lvl="0">
      <a:defRPr lang="en-US"/>
    </a:defPPr>
    <a:lvl1pPr marL="0" lv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4F8DC-F5C2-4A58-91B5-BC8D012B9B86}" type="datetimeFigureOut">
              <a:rPr lang="en-IN" smtClean="0"/>
              <a:t>25-08-2026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13749B-7157-4D90-883F-CB36A174009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9622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13749B-7157-4D90-883F-CB36A174009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9299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1038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523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60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1285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96943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33865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7708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407908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53838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8942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874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65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sih.gov.in/sih2026PS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9916"/>
          <a:stretch/>
        </p:blipFill>
        <p:spPr>
          <a:xfrm>
            <a:off x="6863358" y="1889726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IN" sz="4000" b="1" noProof="0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8478" y="1805222"/>
            <a:ext cx="6282265" cy="32475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  <a:p>
            <a:pPr marL="285750" marR="0" lvl="0" indent="-28575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ID</a:t>
            </a:r>
            <a:r>
              <a:rPr kumimoji="0" lang="en-IN" sz="16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 </a:t>
            </a:r>
            <a:r>
              <a:rPr lang="en-IN" sz="1600" b="1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-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 SIH26099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Problem Statement Title</a:t>
            </a:r>
            <a:r>
              <a:rPr kumimoji="0" lang="en-IN" sz="16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</a:t>
            </a:r>
            <a:r>
              <a:rPr lang="en-IN" sz="1600" b="1" noProof="0" dirty="0">
                <a:solidFill>
                  <a:prstClr val="black"/>
                </a:solidFill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-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AI Driven Standardisation and Harmonization of Material Codes Across CPSEs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Theme</a:t>
            </a:r>
            <a:r>
              <a:rPr kumimoji="0" lang="en-IN" sz="16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-  Smart Automation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PS Category</a:t>
            </a:r>
            <a:r>
              <a:rPr kumimoji="0" lang="en-IN" sz="16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-  Software</a:t>
            </a:r>
          </a:p>
          <a:p>
            <a:pPr marL="285750" marR="0" lvl="0" indent="-285750" algn="just" defTabSz="4572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6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Team Name</a:t>
            </a:r>
            <a:r>
              <a:rPr kumimoji="0" lang="en-IN" sz="1600" b="1" i="0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 </a:t>
            </a:r>
            <a:r>
              <a:rPr kumimoji="0" lang="en-IN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itchFamily="1" charset="-128"/>
                <a:cs typeface="Arial" panose="020B0604020202020204" pitchFamily="34" charset="0"/>
              </a:rPr>
              <a:t>-  SyncMasters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91848DE-8651-7B42-1061-4E172D861DAA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09728"/>
            <a:ext cx="1783080" cy="1054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11480" y="920364"/>
            <a:ext cx="41148" cy="384048"/>
          </a:xfrm>
          <a:prstGeom prst="rect">
            <a:avLst/>
          </a:prstGeom>
          <a:solidFill>
            <a:srgbClr val="E2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521208" y="828924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94B"/>
                </a:solidFill>
              </a:defRPr>
            </a:pPr>
            <a:r>
              <a:rPr lang="en-GB" noProof="0" dirty="0"/>
              <a:t>PROPOSED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737360"/>
            <a:ext cx="5102351" cy="363016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One standardized material identity across CPSEs.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AI harmonizes descriptions, extracts attributes and detects duplicates / equivalents before a new code is created.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The same standardized identity can then anchor visual verification, labelling and lifecycle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96000" y="1464432"/>
            <a:ext cx="5596128" cy="434340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6297168" y="2031360"/>
            <a:ext cx="5193792" cy="237757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Dynamic material identity: links descriptions, specs, grade, size and units.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Semantic matching: finds functionally equivalent materials even when names differ.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Visual verification: OCR / camera checks labels and evidence.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Traceability: links lot, batch, quantity and transport events.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Human approval: uncertain recommendations stay reviewable.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608" y="5981568"/>
            <a:ext cx="10789920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26394B"/>
                </a:solidFill>
              </a:defRPr>
            </a:pPr>
            <a:r>
              <a:rPr lang="en-GB" noProof="0" dirty="0"/>
              <a:t>CORE PS 26099  →  STANDARDISE MATERIAL IDENTITY  →  EXTEND INTO TRACEABILITY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0D74E87-7E66-3DDE-D43F-DF6147560DAD}"/>
              </a:ext>
            </a:extLst>
          </p:cNvPr>
          <p:cNvSpPr/>
          <p:nvPr/>
        </p:nvSpPr>
        <p:spPr>
          <a:xfrm>
            <a:off x="411480" y="47112"/>
            <a:ext cx="1783080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E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394B"/>
                </a:solidFill>
              </a:defRPr>
            </a:pPr>
            <a:r>
              <a:rPr lang="en-GB" sz="1600" noProof="0" dirty="0"/>
              <a:t>SyncMasters</a:t>
            </a:r>
          </a:p>
        </p:txBody>
      </p:sp>
      <p:sp>
        <p:nvSpPr>
          <p:cNvPr id="16" name="Rounded Rectangle 6">
            <a:extLst>
              <a:ext uri="{FF2B5EF4-FFF2-40B4-BE49-F238E27FC236}">
                <a16:creationId xmlns:a16="http://schemas.microsoft.com/office/drawing/2014/main" id="{FCAB44FC-7807-2A08-9DAE-D5B2E8EA6168}"/>
              </a:ext>
            </a:extLst>
          </p:cNvPr>
          <p:cNvSpPr/>
          <p:nvPr/>
        </p:nvSpPr>
        <p:spPr>
          <a:xfrm>
            <a:off x="384048" y="1482720"/>
            <a:ext cx="5504688" cy="434340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6C70D4-F526-39B7-59D3-F1474CDB9CC6}"/>
              </a:ext>
            </a:extLst>
          </p:cNvPr>
          <p:cNvSpPr txBox="1"/>
          <p:nvPr/>
        </p:nvSpPr>
        <p:spPr>
          <a:xfrm>
            <a:off x="585216" y="1647312"/>
            <a:ext cx="5102351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Idea Title: Material Intelligence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E8DC65-5C0F-D7AA-4504-F3EA3281F18D}"/>
              </a:ext>
            </a:extLst>
          </p:cNvPr>
          <p:cNvSpPr txBox="1"/>
          <p:nvPr/>
        </p:nvSpPr>
        <p:spPr>
          <a:xfrm>
            <a:off x="585216" y="2049648"/>
            <a:ext cx="5102351" cy="154657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One standardized material identity across CPSEs.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AI harmonizes descriptions, extracts attributes and detects duplicates / equivalents before a new code is created.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The same standardized identity can then anchor visual verification, labelling and lifecycle traceability.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BAE732-1535-9074-F5C4-3BC7042E366B}"/>
              </a:ext>
            </a:extLst>
          </p:cNvPr>
          <p:cNvSpPr txBox="1"/>
          <p:nvPr/>
        </p:nvSpPr>
        <p:spPr>
          <a:xfrm>
            <a:off x="6327648" y="1647312"/>
            <a:ext cx="5193792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Innovation &amp; Uniqueness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4266472-3D31-50E1-5FE1-749A071512ED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09728"/>
            <a:ext cx="1783080" cy="1054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749" y="1043807"/>
            <a:ext cx="41148" cy="384048"/>
          </a:xfrm>
          <a:prstGeom prst="rect">
            <a:avLst/>
          </a:prstGeom>
          <a:solidFill>
            <a:srgbClr val="E2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86477" y="952367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94B"/>
                </a:solidFill>
              </a:defRPr>
            </a:pPr>
            <a:r>
              <a:rPr lang="en-GB" noProof="0" dirty="0"/>
              <a:t>TECHNICAL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4453" y="1592447"/>
            <a:ext cx="2148840" cy="566928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76749" y="1654553"/>
            <a:ext cx="1920240" cy="42319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noProof="0" dirty="0"/>
              <a:t>Python / Fast API</a:t>
            </a:r>
          </a:p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sz="1000" dirty="0"/>
              <a:t>Backend &amp; AI Service Layer</a:t>
            </a:r>
            <a:endParaRPr lang="en-GB" sz="1000" noProof="0" dirty="0"/>
          </a:p>
        </p:txBody>
      </p:sp>
      <p:sp>
        <p:nvSpPr>
          <p:cNvPr id="9" name="Rounded Rectangle 8"/>
          <p:cNvSpPr/>
          <p:nvPr/>
        </p:nvSpPr>
        <p:spPr>
          <a:xfrm>
            <a:off x="2762165" y="1592447"/>
            <a:ext cx="2148840" cy="566928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TextBox 9"/>
          <p:cNvSpPr txBox="1"/>
          <p:nvPr/>
        </p:nvSpPr>
        <p:spPr>
          <a:xfrm>
            <a:off x="2817029" y="1641454"/>
            <a:ext cx="1920240" cy="42319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noProof="0" dirty="0"/>
              <a:t>PostgreSQL</a:t>
            </a:r>
          </a:p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sz="1000" noProof="0" dirty="0"/>
              <a:t>Structured Material Master Data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877" y="1592447"/>
            <a:ext cx="2148840" cy="566928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5135727" y="1664314"/>
            <a:ext cx="1920240" cy="42319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dirty="0"/>
              <a:t>Node.js</a:t>
            </a:r>
            <a:r>
              <a:rPr lang="en-GB" noProof="0" dirty="0"/>
              <a:t> </a:t>
            </a:r>
          </a:p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sz="1000" dirty="0"/>
              <a:t>Server-side Runtime and API Layer</a:t>
            </a:r>
            <a:endParaRPr lang="en-GB" sz="1000" noProof="0" dirty="0"/>
          </a:p>
        </p:txBody>
      </p:sp>
      <p:sp>
        <p:nvSpPr>
          <p:cNvPr id="13" name="Rounded Rectangle 12"/>
          <p:cNvSpPr/>
          <p:nvPr/>
        </p:nvSpPr>
        <p:spPr>
          <a:xfrm>
            <a:off x="7297589" y="1592447"/>
            <a:ext cx="2148840" cy="566928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7407317" y="1664313"/>
            <a:ext cx="1920240" cy="42319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noProof="0" dirty="0"/>
              <a:t>Sentence Transformers</a:t>
            </a:r>
          </a:p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sz="1000" dirty="0"/>
              <a:t>Semantic Embeddings</a:t>
            </a:r>
            <a:endParaRPr lang="en-GB" sz="1000" noProof="0" dirty="0"/>
          </a:p>
        </p:txBody>
      </p:sp>
      <p:sp>
        <p:nvSpPr>
          <p:cNvPr id="15" name="Rounded Rectangle 14"/>
          <p:cNvSpPr/>
          <p:nvPr/>
        </p:nvSpPr>
        <p:spPr>
          <a:xfrm>
            <a:off x="9565301" y="1592447"/>
            <a:ext cx="2148840" cy="566928"/>
          </a:xfrm>
          <a:prstGeom prst="roundRect">
            <a:avLst/>
          </a:prstGeom>
          <a:solidFill>
            <a:srgbClr val="E8F1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6" name="TextBox 15"/>
          <p:cNvSpPr txBox="1"/>
          <p:nvPr/>
        </p:nvSpPr>
        <p:spPr>
          <a:xfrm>
            <a:off x="9615593" y="1641453"/>
            <a:ext cx="2039112" cy="42319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noProof="0" dirty="0"/>
              <a:t>Vector DB + OCR/CV</a:t>
            </a:r>
          </a:p>
          <a:p>
            <a:pPr algn="ctr">
              <a:defRPr sz="1150" b="1">
                <a:solidFill>
                  <a:srgbClr val="26394B"/>
                </a:solidFill>
              </a:defRPr>
            </a:pPr>
            <a:r>
              <a:rPr lang="en-GB" sz="1000" dirty="0"/>
              <a:t>Similarity search &amp; label verification</a:t>
            </a:r>
            <a:endParaRPr lang="en-GB" sz="1000" noProof="0" dirty="0"/>
          </a:p>
        </p:txBody>
      </p:sp>
      <p:sp>
        <p:nvSpPr>
          <p:cNvPr id="17" name="TextBox 16"/>
          <p:cNvSpPr txBox="1"/>
          <p:nvPr/>
        </p:nvSpPr>
        <p:spPr>
          <a:xfrm>
            <a:off x="585893" y="2369687"/>
            <a:ext cx="4572000" cy="384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700" b="1">
                <a:solidFill>
                  <a:srgbClr val="26394B"/>
                </a:solidFill>
              </a:defRPr>
            </a:pPr>
            <a:r>
              <a:rPr lang="en-GB" noProof="0" dirty="0"/>
              <a:t>Methodology &amp; Implementation Process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453" y="2872607"/>
            <a:ext cx="214884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9" name="TextBox 18"/>
          <p:cNvSpPr txBox="1"/>
          <p:nvPr/>
        </p:nvSpPr>
        <p:spPr>
          <a:xfrm>
            <a:off x="659045" y="2982335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26394B"/>
                </a:solidFill>
              </a:defRPr>
            </a:pPr>
            <a:r>
              <a:rPr lang="en-GB" noProof="0" dirty="0"/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804" y="2964047"/>
            <a:ext cx="14173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26394B"/>
                </a:solidFill>
              </a:defRPr>
            </a:pPr>
            <a:r>
              <a:rPr lang="en-GB" noProof="0" dirty="0"/>
              <a:t>DATA INGESTION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045" y="3348095"/>
            <a:ext cx="181051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50" b="0">
                <a:solidFill>
                  <a:srgbClr val="4E5862"/>
                </a:solidFill>
              </a:defRPr>
            </a:pPr>
            <a:r>
              <a:rPr lang="en-GB" noProof="0" dirty="0"/>
              <a:t>CPSE material masters</a:t>
            </a:r>
            <a:br>
              <a:rPr lang="en-GB" noProof="0" dirty="0"/>
            </a:br>
            <a:r>
              <a:rPr lang="en-GB" noProof="0" dirty="0"/>
              <a:t>ERP / CSV</a:t>
            </a:r>
            <a:br>
              <a:rPr lang="en-GB" noProof="0" dirty="0"/>
            </a:br>
            <a:r>
              <a:rPr lang="en-GB" noProof="0" dirty="0"/>
              <a:t>Labels / images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62165" y="2872607"/>
            <a:ext cx="214884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3" name="TextBox 22"/>
          <p:cNvSpPr txBox="1"/>
          <p:nvPr/>
        </p:nvSpPr>
        <p:spPr>
          <a:xfrm>
            <a:off x="2926757" y="2982335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26394B"/>
                </a:solidFill>
              </a:defRPr>
            </a:pPr>
            <a:r>
              <a:rPr lang="en-GB" noProof="0" dirty="0"/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2517" y="2964047"/>
            <a:ext cx="14173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26394B"/>
                </a:solidFill>
              </a:defRPr>
            </a:pPr>
            <a:r>
              <a:rPr lang="en-GB" noProof="0" dirty="0"/>
              <a:t>NORMALIZE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26757" y="3348095"/>
            <a:ext cx="181051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50" b="0">
                <a:solidFill>
                  <a:srgbClr val="4E5862"/>
                </a:solidFill>
              </a:defRPr>
            </a:pPr>
            <a:r>
              <a:rPr lang="en-GB" noProof="0" dirty="0"/>
              <a:t>Units</a:t>
            </a:r>
            <a:br>
              <a:rPr lang="en-GB" noProof="0" dirty="0"/>
            </a:br>
            <a:r>
              <a:rPr lang="en-GB" noProof="0" dirty="0"/>
              <a:t>Abbreviations</a:t>
            </a:r>
            <a:br>
              <a:rPr lang="en-GB" noProof="0" dirty="0"/>
            </a:br>
            <a:r>
              <a:rPr lang="en-GB" noProof="0" dirty="0"/>
              <a:t>Specs / missing values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877" y="2872607"/>
            <a:ext cx="214884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7" name="TextBox 26"/>
          <p:cNvSpPr txBox="1"/>
          <p:nvPr/>
        </p:nvSpPr>
        <p:spPr>
          <a:xfrm>
            <a:off x="5139605" y="2991478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26394B"/>
                </a:solidFill>
              </a:defRPr>
            </a:pPr>
            <a:r>
              <a:rPr lang="en-GB" noProof="0" dirty="0"/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00209" y="2964047"/>
            <a:ext cx="157734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26394B"/>
                </a:solidFill>
              </a:defRPr>
            </a:pPr>
            <a:r>
              <a:rPr lang="en-GB" noProof="0" dirty="0"/>
              <a:t>AI UNDERSTANDING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4469" y="3348095"/>
            <a:ext cx="181051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50" b="0">
                <a:solidFill>
                  <a:srgbClr val="4E5862"/>
                </a:solidFill>
              </a:defRPr>
            </a:pPr>
            <a:r>
              <a:rPr lang="en-GB" noProof="0" dirty="0"/>
              <a:t>OCR</a:t>
            </a:r>
            <a:br>
              <a:rPr lang="en-GB" noProof="0" dirty="0"/>
            </a:br>
            <a:r>
              <a:rPr lang="en-GB" noProof="0" dirty="0"/>
              <a:t>Attribute extraction</a:t>
            </a:r>
            <a:br>
              <a:rPr lang="en-GB" noProof="0" dirty="0"/>
            </a:br>
            <a:r>
              <a:rPr lang="en-GB" noProof="0" dirty="0"/>
              <a:t>Embeddings / CV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297589" y="2872607"/>
            <a:ext cx="214884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1" name="TextBox 30"/>
          <p:cNvSpPr txBox="1"/>
          <p:nvPr/>
        </p:nvSpPr>
        <p:spPr>
          <a:xfrm>
            <a:off x="7462181" y="2982335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26394B"/>
                </a:solidFill>
              </a:defRPr>
            </a:pPr>
            <a:r>
              <a:rPr lang="en-GB" noProof="0" dirty="0"/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27941" y="2964047"/>
            <a:ext cx="14173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26394B"/>
                </a:solidFill>
              </a:defRPr>
            </a:pPr>
            <a:r>
              <a:rPr lang="en-GB" noProof="0" dirty="0"/>
              <a:t>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62181" y="3348095"/>
            <a:ext cx="181051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50" b="0">
                <a:solidFill>
                  <a:srgbClr val="4E5862"/>
                </a:solidFill>
              </a:defRPr>
            </a:pPr>
            <a:r>
              <a:rPr lang="en-GB" noProof="0" dirty="0"/>
              <a:t>Vector search</a:t>
            </a:r>
            <a:br>
              <a:rPr lang="en-GB" noProof="0" dirty="0"/>
            </a:br>
            <a:r>
              <a:rPr lang="en-GB" noProof="0" dirty="0"/>
              <a:t>Similarity + rules</a:t>
            </a:r>
            <a:br>
              <a:rPr lang="en-GB" noProof="0" dirty="0"/>
            </a:br>
            <a:r>
              <a:rPr lang="en-GB" noProof="0" dirty="0"/>
              <a:t>Candidate ranking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565301" y="2872607"/>
            <a:ext cx="2148840" cy="1143000"/>
          </a:xfrm>
          <a:prstGeom prst="roundRect">
            <a:avLst/>
          </a:prstGeom>
          <a:solidFill>
            <a:srgbClr val="F6F8FB"/>
          </a:solidFill>
          <a:ln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5" name="TextBox 34"/>
          <p:cNvSpPr txBox="1"/>
          <p:nvPr/>
        </p:nvSpPr>
        <p:spPr>
          <a:xfrm>
            <a:off x="9729893" y="2982335"/>
            <a:ext cx="320040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300" b="1">
                <a:solidFill>
                  <a:srgbClr val="26394B"/>
                </a:solidFill>
              </a:defRPr>
            </a:pPr>
            <a:r>
              <a:rPr lang="en-GB" noProof="0" dirty="0"/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095653" y="2964047"/>
            <a:ext cx="1417320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400" b="1">
                <a:solidFill>
                  <a:srgbClr val="26394B"/>
                </a:solidFill>
              </a:defRPr>
            </a:pPr>
            <a:r>
              <a:rPr lang="en-GB" noProof="0" dirty="0"/>
              <a:t>DECISION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29893" y="3348095"/>
            <a:ext cx="1810512" cy="5029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150" b="0">
                <a:solidFill>
                  <a:srgbClr val="4E5862"/>
                </a:solidFill>
              </a:defRPr>
            </a:pPr>
            <a:r>
              <a:rPr lang="en-GB" noProof="0" dirty="0"/>
              <a:t>Confidence score</a:t>
            </a:r>
            <a:br>
              <a:rPr lang="en-GB" noProof="0" dirty="0"/>
            </a:br>
            <a:r>
              <a:rPr lang="en-GB" noProof="0" dirty="0"/>
              <a:t>Explain match</a:t>
            </a:r>
            <a:br>
              <a:rPr lang="en-GB" noProof="0" dirty="0"/>
            </a:br>
            <a:r>
              <a:rPr lang="en-GB" noProof="0" dirty="0"/>
              <a:t>Human approval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8461" y="4244207"/>
            <a:ext cx="5349240" cy="150876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39" name="TextBox 38"/>
          <p:cNvSpPr txBox="1"/>
          <p:nvPr/>
        </p:nvSpPr>
        <p:spPr>
          <a:xfrm>
            <a:off x="759629" y="4408798"/>
            <a:ext cx="4946903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Explainable Match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9629" y="4811135"/>
            <a:ext cx="4946903" cy="795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“SS Bolt M10×50 Grade 304” ≈ “Stainless Steel Hex Bolt 10 mm × 50 mm SS304”</a:t>
            </a:r>
            <a:br>
              <a:rPr lang="en-GB" noProof="0" dirty="0"/>
            </a:br>
            <a:r>
              <a:rPr lang="en-GB" noProof="0" dirty="0"/>
              <a:t>Output: high-confidence equivalent → existing standardized code recommended.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099725" y="4244207"/>
            <a:ext cx="5486400" cy="150876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42" name="TextBox 41"/>
          <p:cNvSpPr txBox="1"/>
          <p:nvPr/>
        </p:nvSpPr>
        <p:spPr>
          <a:xfrm>
            <a:off x="6300892" y="4408798"/>
            <a:ext cx="508406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Recommendation + Rollout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0892" y="4811135"/>
            <a:ext cx="5084064" cy="795527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Reuse code • Keep source codes • Record reviewer approval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P1 Master-data matcher → P2 Visual label verification → P3 Traceability + analytics</a:t>
            </a: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4C418AD-A289-7F2D-E307-6398A0D88AF0}"/>
              </a:ext>
            </a:extLst>
          </p:cNvPr>
          <p:cNvSpPr/>
          <p:nvPr/>
        </p:nvSpPr>
        <p:spPr>
          <a:xfrm>
            <a:off x="494453" y="156838"/>
            <a:ext cx="1783080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E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394B"/>
                </a:solidFill>
              </a:defRPr>
            </a:pPr>
            <a:r>
              <a:rPr lang="en-GB" sz="1600" noProof="0" dirty="0"/>
              <a:t>SyncMasters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B0F16739-6854-7164-8497-14695AE0C269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09728"/>
            <a:ext cx="1783080" cy="105434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411480" y="1795404"/>
            <a:ext cx="3703320" cy="45262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0" name="Rounded Rectangle 9"/>
          <p:cNvSpPr/>
          <p:nvPr/>
        </p:nvSpPr>
        <p:spPr>
          <a:xfrm>
            <a:off x="4242816" y="1795404"/>
            <a:ext cx="3703320" cy="45262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443983" y="2362332"/>
            <a:ext cx="3300984" cy="2585323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Inconsistent descriptions → normalize units, abbreviations and terminology.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False positives → thresholds, rule checks and reviewer approval.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Image quality / labels → treat visual input as evidence; fall back to OCR + structured records.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Master-data risk → no silent deletion or automatic overwrite.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83296" y="1795404"/>
            <a:ext cx="3675887" cy="45262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4" name="TextBox 13"/>
          <p:cNvSpPr txBox="1"/>
          <p:nvPr/>
        </p:nvSpPr>
        <p:spPr>
          <a:xfrm>
            <a:off x="8284464" y="1959996"/>
            <a:ext cx="3273551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3-Phase Rollout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84464" y="2362332"/>
            <a:ext cx="3273551" cy="320857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01  Proof</a:t>
            </a:r>
            <a:br>
              <a:rPr lang="en-GB" noProof="0" dirty="0"/>
            </a:br>
            <a:r>
              <a:rPr lang="en-GB" noProof="0" dirty="0"/>
              <a:t>CSV/master data → duplicate &amp; equivalent detection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02  Pilot</a:t>
            </a:r>
            <a:br>
              <a:rPr lang="en-GB" noProof="0" dirty="0"/>
            </a:br>
            <a:r>
              <a:rPr lang="en-GB" noProof="0" dirty="0"/>
              <a:t>Add label/OCR verification + reviewer workflow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03  Scale</a:t>
            </a:r>
            <a:br>
              <a:rPr lang="en-GB" noProof="0" dirty="0"/>
            </a:br>
            <a:r>
              <a:rPr lang="en-GB" noProof="0" dirty="0"/>
              <a:t>Traceability + dashboards + system integration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Success gate: high-confidence matches first; uncertain cases remain human-reviewed.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541E638-192A-8640-B7C0-174731267501}"/>
              </a:ext>
            </a:extLst>
          </p:cNvPr>
          <p:cNvSpPr/>
          <p:nvPr/>
        </p:nvSpPr>
        <p:spPr>
          <a:xfrm>
            <a:off x="585216" y="1147572"/>
            <a:ext cx="41148" cy="384048"/>
          </a:xfrm>
          <a:prstGeom prst="rect">
            <a:avLst/>
          </a:prstGeom>
          <a:solidFill>
            <a:srgbClr val="E2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6E0365C-8681-BA27-36C1-E60D4E656218}"/>
              </a:ext>
            </a:extLst>
          </p:cNvPr>
          <p:cNvSpPr txBox="1"/>
          <p:nvPr/>
        </p:nvSpPr>
        <p:spPr>
          <a:xfrm>
            <a:off x="694944" y="1056132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94B"/>
                </a:solidFill>
              </a:defRPr>
            </a:pPr>
            <a:r>
              <a:rPr lang="en-GB" noProof="0" dirty="0"/>
              <a:t>FEASIBILITY AND VIABILITY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2560D0-ED04-EFCD-E04D-090FBC73DD0F}"/>
              </a:ext>
            </a:extLst>
          </p:cNvPr>
          <p:cNvSpPr txBox="1"/>
          <p:nvPr/>
        </p:nvSpPr>
        <p:spPr>
          <a:xfrm>
            <a:off x="612648" y="1952244"/>
            <a:ext cx="33009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Analysis of Feasibility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FE688A5-2E28-C78D-CCF8-A910BF470816}"/>
              </a:ext>
            </a:extLst>
          </p:cNvPr>
          <p:cNvSpPr txBox="1"/>
          <p:nvPr/>
        </p:nvSpPr>
        <p:spPr>
          <a:xfrm>
            <a:off x="612648" y="2354580"/>
            <a:ext cx="3300984" cy="2793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 High technical feasibility: uses established NLP, OCR, vector search and database technologies.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 Software-first deployment: starts with structured material-master data.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Data readiness: the PS identifies CPSE material-master / sample material data as the core input.</a:t>
            </a:r>
            <a:br>
              <a:rPr lang="en-GB" noProof="0" dirty="0"/>
            </a:b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Scalability: begin with one catalogue / CPSE and scale module-by-module.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001BDDA-BB81-FA4F-0AF6-A93DC6D0D8EC}"/>
              </a:ext>
            </a:extLst>
          </p:cNvPr>
          <p:cNvSpPr txBox="1"/>
          <p:nvPr/>
        </p:nvSpPr>
        <p:spPr>
          <a:xfrm>
            <a:off x="4443983" y="1952244"/>
            <a:ext cx="33009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Risks &amp; Mitigation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F7E1644D-3B50-D5C8-A22D-CEC2B816ADAF}"/>
              </a:ext>
            </a:extLst>
          </p:cNvPr>
          <p:cNvSpPr/>
          <p:nvPr/>
        </p:nvSpPr>
        <p:spPr>
          <a:xfrm>
            <a:off x="480060" y="301752"/>
            <a:ext cx="1783080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E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394B"/>
                </a:solidFill>
              </a:defRPr>
            </a:pPr>
            <a:r>
              <a:rPr lang="en-GB" sz="1600" noProof="0" dirty="0"/>
              <a:t>SyncMasters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6ED132B-D287-1948-C463-85C5AB699831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09728"/>
            <a:ext cx="1783080" cy="1054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76750" y="990335"/>
            <a:ext cx="41148" cy="384048"/>
          </a:xfrm>
          <a:prstGeom prst="rect">
            <a:avLst/>
          </a:prstGeom>
          <a:solidFill>
            <a:srgbClr val="E2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86478" y="898895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94B"/>
                </a:solidFill>
              </a:defRPr>
            </a:pPr>
            <a:r>
              <a:rPr lang="en-GB" noProof="0" dirty="0"/>
              <a:t>IMPACT AND BENEFITS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3326" y="1538975"/>
            <a:ext cx="10881360" cy="4114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1">
                <a:solidFill>
                  <a:srgbClr val="26394B"/>
                </a:solidFill>
              </a:defRPr>
            </a:pPr>
            <a:r>
              <a:rPr lang="en-GB" noProof="0" dirty="0"/>
              <a:t>Target Audience: CPSE procurement teams, material masters, stores / inventory, quality / inspection, operations &amp; logistics.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4454" y="2133335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9" name="TextBox 8"/>
          <p:cNvSpPr txBox="1"/>
          <p:nvPr/>
        </p:nvSpPr>
        <p:spPr>
          <a:xfrm>
            <a:off x="695622" y="2297927"/>
            <a:ext cx="2843784" cy="33855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STANDARDISATION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5622" y="2700263"/>
            <a:ext cx="2843784" cy="9784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One harmonized identity for equivalent materials across CPSEs.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033182" y="2133335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2" name="TextBox 11"/>
          <p:cNvSpPr txBox="1"/>
          <p:nvPr/>
        </p:nvSpPr>
        <p:spPr>
          <a:xfrm>
            <a:off x="4234350" y="2297927"/>
            <a:ext cx="28437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PROCUREMENT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4350" y="2700263"/>
            <a:ext cx="2843784" cy="9784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Reduce avoidable duplicate creation and improve search / reuse.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62765" y="2133335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5" name="TextBox 14"/>
          <p:cNvSpPr txBox="1"/>
          <p:nvPr/>
        </p:nvSpPr>
        <p:spPr>
          <a:xfrm>
            <a:off x="7763934" y="2297927"/>
            <a:ext cx="28437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INVENTORY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63934" y="2700263"/>
            <a:ext cx="2843784" cy="9784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Cleaner material masters support better stock visibility and analysis.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4454" y="4236454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8" name="TextBox 17"/>
          <p:cNvSpPr txBox="1"/>
          <p:nvPr/>
        </p:nvSpPr>
        <p:spPr>
          <a:xfrm>
            <a:off x="695622" y="4401046"/>
            <a:ext cx="28437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5622" y="4803383"/>
            <a:ext cx="2843784" cy="9784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Faster identification, labelling and batch / lot traceability.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33182" y="4236454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1" name="TextBox 20"/>
          <p:cNvSpPr txBox="1"/>
          <p:nvPr/>
        </p:nvSpPr>
        <p:spPr>
          <a:xfrm>
            <a:off x="4234350" y="4401046"/>
            <a:ext cx="28437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TRANSPARENCY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34350" y="4803383"/>
            <a:ext cx="2843784" cy="97840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Trace source record, confidence and approval history.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62765" y="4236454"/>
            <a:ext cx="3246120" cy="169164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4" name="TextBox 23"/>
          <p:cNvSpPr txBox="1"/>
          <p:nvPr/>
        </p:nvSpPr>
        <p:spPr>
          <a:xfrm>
            <a:off x="7763934" y="4401046"/>
            <a:ext cx="284378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SCALABILITY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63934" y="4803383"/>
            <a:ext cx="2843784" cy="50783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Same platform pattern can extend across CPSE material catalogues.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774" y="6284711"/>
            <a:ext cx="10561320" cy="276999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1">
                <a:solidFill>
                  <a:srgbClr val="26394B"/>
                </a:solidFill>
              </a:defRPr>
            </a:pPr>
            <a:r>
              <a:rPr lang="en-GB" noProof="0" dirty="0"/>
              <a:t>VALUE CHAIN:  Identify  →  Harmonize  →  Approve  →  Label  →  Track  →  Analyse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3B8C6BDC-359B-9DDC-DD74-40EC00184285}"/>
              </a:ext>
            </a:extLst>
          </p:cNvPr>
          <p:cNvSpPr/>
          <p:nvPr/>
        </p:nvSpPr>
        <p:spPr>
          <a:xfrm>
            <a:off x="576750" y="80846"/>
            <a:ext cx="1783080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E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394B"/>
                </a:solidFill>
              </a:defRPr>
            </a:pPr>
            <a:r>
              <a:rPr lang="en-GB" sz="1600" noProof="0" dirty="0"/>
              <a:t>SyncMasters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FBFE18B6-21FB-3E14-DE86-4ABE5E334EFD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3" name="Picture 2" descr="logo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5560" y="109728"/>
            <a:ext cx="1783080" cy="1054343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42883" y="1005840"/>
            <a:ext cx="41148" cy="384048"/>
          </a:xfrm>
          <a:prstGeom prst="rect">
            <a:avLst/>
          </a:prstGeom>
          <a:solidFill>
            <a:srgbClr val="E277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6" name="TextBox 5"/>
          <p:cNvSpPr txBox="1"/>
          <p:nvPr/>
        </p:nvSpPr>
        <p:spPr>
          <a:xfrm>
            <a:off x="652611" y="914400"/>
            <a:ext cx="89611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6394B"/>
                </a:solidFill>
              </a:defRPr>
            </a:pPr>
            <a:r>
              <a:rPr lang="en-GB" noProof="0" dirty="0"/>
              <a:t>RESEARCH AND REFERENCES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9147" y="1645920"/>
            <a:ext cx="5532120" cy="45262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8" name="TextBox 7"/>
          <p:cNvSpPr txBox="1"/>
          <p:nvPr/>
        </p:nvSpPr>
        <p:spPr>
          <a:xfrm>
            <a:off x="570315" y="1810512"/>
            <a:ext cx="5129783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Research Conducted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315" y="2212848"/>
            <a:ext cx="5129783" cy="381304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• Semantic similarity: sentence embeddings / vector search for equivalent-material retrieval.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• Entity &amp; attribute matching: material, grade, size, specification and unit normalization.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• OCR / computer vision: label text extraction and visual verification as an extension layer.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• Human-in-the-loop AI: confidence thresholds, review queues and auditable approvals.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2435" y="1645920"/>
            <a:ext cx="5623560" cy="4526280"/>
          </a:xfrm>
          <a:prstGeom prst="roundRect">
            <a:avLst/>
          </a:prstGeom>
          <a:solidFill>
            <a:srgbClr val="F6F8FB"/>
          </a:solidFill>
          <a:ln w="11430">
            <a:solidFill>
              <a:srgbClr val="DF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11" name="TextBox 10"/>
          <p:cNvSpPr txBox="1"/>
          <p:nvPr/>
        </p:nvSpPr>
        <p:spPr>
          <a:xfrm>
            <a:off x="6303603" y="1810512"/>
            <a:ext cx="5221224" cy="3200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l">
              <a:defRPr sz="1600" b="1">
                <a:solidFill>
                  <a:srgbClr val="E2771D"/>
                </a:solidFill>
              </a:defRPr>
            </a:pPr>
            <a:r>
              <a:rPr lang="en-GB" noProof="0" dirty="0"/>
              <a:t>Official PS Context / Links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3603" y="2212848"/>
            <a:ext cx="5221224" cy="3208571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Problem Statement: SIH26099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Title: AI-Driven Standardisation and Harmonization of Material Codes Across CPSEs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Organization: Ministry of Petroleum &amp; Natural Gas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Department: Chennai Petroleum Corporation Limited (CPCL)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Category / Theme: Software / Smart Automation</a:t>
            </a:r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endParaRPr lang="en-GB" noProof="0" dirty="0"/>
          </a:p>
          <a:p>
            <a:pPr marL="285750" indent="-285750" algn="l">
              <a:buFont typeface="Arial" panose="020B0604020202020204" pitchFamily="34" charset="0"/>
              <a:buChar char="•"/>
              <a:defRPr sz="1350" b="0">
                <a:solidFill>
                  <a:srgbClr val="1E2328"/>
                </a:solidFill>
              </a:defRPr>
            </a:pPr>
            <a:r>
              <a:rPr lang="en-GB" noProof="0" dirty="0"/>
              <a:t>Dataset basis: CPSE Material Master Data / Sample Material Master Dataset</a:t>
            </a:r>
            <a:br>
              <a:rPr lang="en-GB" noProof="0" dirty="0"/>
            </a:br>
            <a:br>
              <a:rPr lang="en-GB" noProof="0" dirty="0"/>
            </a:br>
            <a:r>
              <a:rPr lang="en-GB" noProof="0" dirty="0"/>
              <a:t>Official portal: </a:t>
            </a:r>
            <a:r>
              <a:rPr lang="en-IN" dirty="0">
                <a:hlinkClick r:id="rId3"/>
              </a:rPr>
              <a:t>Smart India Hackathon</a:t>
            </a:r>
            <a:endParaRPr lang="en-GB" noProof="0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AEFB5D7-7367-2246-FFAC-29CBBEAD438B}"/>
              </a:ext>
            </a:extLst>
          </p:cNvPr>
          <p:cNvSpPr/>
          <p:nvPr/>
        </p:nvSpPr>
        <p:spPr>
          <a:xfrm>
            <a:off x="463635" y="73152"/>
            <a:ext cx="1783080" cy="7132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E66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26394B"/>
                </a:solidFill>
              </a:defRPr>
            </a:pPr>
            <a:r>
              <a:rPr lang="en-GB" sz="1600" noProof="0" dirty="0"/>
              <a:t>SyncMasters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2D26D8F-2C61-B657-2386-C913888ED422}"/>
              </a:ext>
            </a:extLst>
          </p:cNvPr>
          <p:cNvSpPr/>
          <p:nvPr/>
        </p:nvSpPr>
        <p:spPr>
          <a:xfrm>
            <a:off x="11835012" y="6547104"/>
            <a:ext cx="304495" cy="310896"/>
          </a:xfrm>
          <a:prstGeom prst="roundRect">
            <a:avLst/>
          </a:prstGeom>
          <a:solidFill>
            <a:schemeClr val="bg1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784</Words>
  <Application>Microsoft Office PowerPoint</Application>
  <PresentationFormat>Widescreen</PresentationFormat>
  <Paragraphs>110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Garamond</vt:lpstr>
      <vt:lpstr>TradeGothic</vt:lpstr>
      <vt:lpstr>Office Theme</vt:lpstr>
      <vt:lpstr>1_Office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Kumar Harshvardhan Jaytri</cp:lastModifiedBy>
  <cp:revision>20</cp:revision>
  <dcterms:modified xsi:type="dcterms:W3CDTF">2026-08-25T06:18:34Z</dcterms:modified>
</cp:coreProperties>
</file>